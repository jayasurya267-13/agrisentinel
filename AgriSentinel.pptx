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49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2004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690" dirty="0"/>
          </a:p>
        </p:txBody>
      </p:sp>
      <p:sp>
        <p:nvSpPr>
          <p:cNvPr id="6" name="Shape 4"/>
          <p:cNvSpPr/>
          <p:nvPr/>
        </p:nvSpPr>
        <p:spPr>
          <a:xfrm>
            <a:off x="1417320" y="32004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320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69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66928" y="2971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IoT Guardian for Smart Farming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5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(IoT)   </a:t>
            </a: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Subdomain: </a:t>
            </a:r>
            <a:r>
              <a:rPr lang="en-US" sz="15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5074920"/>
            <a:ext cx="6126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212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___________________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596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8521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     2. ______________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______________     4. ______________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6080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•  IoT + Agriculture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and marginal farmers still struggle with irrigation and crop monitoring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  <a:effectLst>
            <a:outerShdw blurRad="381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fixed-schedule irrigation ignores actual soil condition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  <a:effectLst>
            <a:outerShdw blurRad="381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709928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68580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 of crop stress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notice problems only after visible crop damage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  <a:effectLst>
            <a:outerShdw blurRad="381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355848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41732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65760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conditions are checked physically, not continuously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312724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  <a:effectLst>
            <a:outerShdw blurRad="381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3355848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685800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tampering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can be spoofed or unreliable, leading to wrong decisions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DC"/>
            </a:solidFill>
            <a:prstDash val="solid"/>
          </a:ln>
          <a:effectLst>
            <a:outerShdw blurRad="381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001768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001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141732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barrier for small farmers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530352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160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smart-farming kits are too expensive to adopt widely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  |  Smart Farming IoT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289304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9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430" dirty="0"/>
          </a:p>
        </p:txBody>
      </p:sp>
      <p:sp>
        <p:nvSpPr>
          <p:cNvPr id="5" name="Text 3"/>
          <p:cNvSpPr/>
          <p:nvPr/>
        </p:nvSpPr>
        <p:spPr>
          <a:xfrm>
            <a:off x="1325880" y="121615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ESP32-based monitoring unit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54533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microcontroller that reads sensors and takes local decisions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10698480" cy="0"/>
          </a:xfrm>
          <a:prstGeom prst="line">
            <a:avLst/>
          </a:prstGeom>
          <a:noFill/>
          <a:ln w="9525">
            <a:solidFill>
              <a:srgbClr val="E4E9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2199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1488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temperature &amp; humidity sensing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47802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field data collection at short intervals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10698480" cy="0"/>
          </a:xfrm>
          <a:prstGeom prst="line">
            <a:avLst/>
          </a:prstGeom>
          <a:noFill/>
          <a:ln w="9525">
            <a:solidFill>
              <a:srgbClr val="E4E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15468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325880" y="30815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irrigation control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4107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Relay-driven pump turns ON/OFF based on soil moisture threshold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922776"/>
            <a:ext cx="10698480" cy="0"/>
          </a:xfrm>
          <a:prstGeom prst="line">
            <a:avLst/>
          </a:prstGeom>
          <a:noFill/>
          <a:ln w="9525">
            <a:solidFill>
              <a:srgbClr val="E4E9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087368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1325880" y="401421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alerts through Blynk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43434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gets live readings and alerts on phone, no laptop needed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855464"/>
            <a:ext cx="10698480" cy="0"/>
          </a:xfrm>
          <a:prstGeom prst="line">
            <a:avLst/>
          </a:prstGeom>
          <a:noFill/>
          <a:ln w="9525">
            <a:solidFill>
              <a:srgbClr val="E4E9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020056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020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1325880" y="494690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cybersecurity &amp; tamper detection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527608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values are validated before being used for automation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  |  Smart Farming IoT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228600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(Soil, Temp, Humidity)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59152" y="2660904"/>
            <a:ext cx="402336" cy="164592"/>
          </a:xfrm>
          <a:prstGeom prst="rightArrow">
            <a:avLst/>
          </a:prstGeom>
          <a:solidFill>
            <a:srgbClr val="9AA79F"/>
          </a:solidFill>
          <a:ln/>
        </p:spPr>
      </p:sp>
      <p:sp>
        <p:nvSpPr>
          <p:cNvPr id="6" name="Shape 4"/>
          <p:cNvSpPr/>
          <p:nvPr/>
        </p:nvSpPr>
        <p:spPr>
          <a:xfrm>
            <a:off x="2788920" y="228600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2286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16552" y="2660904"/>
            <a:ext cx="402336" cy="164592"/>
          </a:xfrm>
          <a:prstGeom prst="rightArrow">
            <a:avLst/>
          </a:prstGeom>
          <a:solidFill>
            <a:srgbClr val="9AA79F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228600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28600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82512" y="2660904"/>
            <a:ext cx="402336" cy="164592"/>
          </a:xfrm>
          <a:prstGeom prst="rightArrow">
            <a:avLst/>
          </a:prstGeom>
          <a:solidFill>
            <a:srgbClr val="9AA79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12280" y="228600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28600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48472" y="2660904"/>
            <a:ext cx="402336" cy="164592"/>
          </a:xfrm>
          <a:prstGeom prst="rightArrow">
            <a:avLst/>
          </a:prstGeom>
          <a:solidFill>
            <a:srgbClr val="9AA79F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228600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22860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88920" y="393192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1565C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788920" y="39319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Pump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01568" y="3227832"/>
            <a:ext cx="164592" cy="384048"/>
          </a:xfrm>
          <a:prstGeom prst="downArrow">
            <a:avLst/>
          </a:prstGeom>
          <a:solidFill>
            <a:srgbClr val="9AA79F"/>
          </a:solidFill>
          <a:ln/>
        </p:spPr>
      </p:sp>
      <p:sp>
        <p:nvSpPr>
          <p:cNvPr id="20" name="Text 18"/>
          <p:cNvSpPr/>
          <p:nvPr/>
        </p:nvSpPr>
        <p:spPr>
          <a:xfrm>
            <a:off x="3584448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93192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846320" y="39319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upload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3246120"/>
            <a:ext cx="164592" cy="365760"/>
          </a:xfrm>
          <a:prstGeom prst="upArrow">
            <a:avLst/>
          </a:prstGeom>
          <a:solidFill>
            <a:srgbClr val="9AA79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0749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right; the security check block validates sensor readings before they reach the cloud, while ESP32 also drives the relay/pump for irrigation.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  |  Smart Farming IoT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17520" y="1234440"/>
            <a:ext cx="2743200" cy="621792"/>
          </a:xfrm>
          <a:prstGeom prst="roundRect">
            <a:avLst>
              <a:gd name="adj" fmla="val 8824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17520" y="12344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06824" y="1901952"/>
            <a:ext cx="164592" cy="411480"/>
          </a:xfrm>
          <a:prstGeom prst="downArrow">
            <a:avLst/>
          </a:prstGeom>
          <a:solidFill>
            <a:srgbClr val="9AA79F"/>
          </a:solidFill>
          <a:ln/>
        </p:spPr>
      </p:sp>
      <p:sp>
        <p:nvSpPr>
          <p:cNvPr id="6" name="Shape 4"/>
          <p:cNvSpPr/>
          <p:nvPr/>
        </p:nvSpPr>
        <p:spPr>
          <a:xfrm>
            <a:off x="3017520" y="2359152"/>
            <a:ext cx="2743200" cy="621792"/>
          </a:xfrm>
          <a:prstGeom prst="roundRect">
            <a:avLst>
              <a:gd name="adj" fmla="val 8824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235915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6824" y="3026664"/>
            <a:ext cx="164592" cy="411480"/>
          </a:xfrm>
          <a:prstGeom prst="downArrow">
            <a:avLst/>
          </a:prstGeom>
          <a:solidFill>
            <a:srgbClr val="9AA79F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3483864"/>
            <a:ext cx="2743200" cy="621792"/>
          </a:xfrm>
          <a:prstGeom prst="roundRect">
            <a:avLst>
              <a:gd name="adj" fmla="val 8824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348386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06824" y="4151376"/>
            <a:ext cx="164592" cy="411480"/>
          </a:xfrm>
          <a:prstGeom prst="downArrow">
            <a:avLst/>
          </a:prstGeom>
          <a:solidFill>
            <a:srgbClr val="9AA79F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4608576"/>
            <a:ext cx="292608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4608576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06824" y="5568696"/>
            <a:ext cx="164592" cy="384048"/>
          </a:xfrm>
          <a:prstGeom prst="downArrow">
            <a:avLst/>
          </a:prstGeom>
          <a:solidFill>
            <a:srgbClr val="9AA79F"/>
          </a:solidFill>
          <a:ln/>
        </p:spPr>
      </p:sp>
      <p:sp>
        <p:nvSpPr>
          <p:cNvPr id="15" name="Shape 13"/>
          <p:cNvSpPr/>
          <p:nvPr/>
        </p:nvSpPr>
        <p:spPr>
          <a:xfrm>
            <a:off x="3017520" y="5980176"/>
            <a:ext cx="2743200" cy="621792"/>
          </a:xfrm>
          <a:prstGeom prst="roundRect">
            <a:avLst>
              <a:gd name="adj" fmla="val 8824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598017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continue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irrigation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4983480"/>
            <a:ext cx="502920" cy="164592"/>
          </a:xfrm>
          <a:prstGeom prst="rightArrow">
            <a:avLst/>
          </a:prstGeom>
          <a:solidFill>
            <a:srgbClr val="9AA79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4681728"/>
            <a:ext cx="2468880" cy="768096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 w="22225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681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Security Alert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5047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farmer's app + reading discarded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47731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43400" y="55778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  |  Smart Farming IoT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282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Stress Index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soil + temperature + humidity into a single simple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798064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883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Security-aware irrigation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acts only on validated, trusted sensor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758184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484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decision making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takes basic irrigation decisions locally, without waiting on cloud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20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24414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 vs manual irrigation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17830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920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81160" y="24414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 via early stress detection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474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0" y="39959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suited to small landholdings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3474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281160" y="39959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data, resistant to tampering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  |  Smart Farming IoT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092" dirty="0"/>
          </a:p>
        </p:txBody>
      </p:sp>
      <p:sp>
        <p:nvSpPr>
          <p:cNvPr id="6" name="Text 4"/>
          <p:cNvSpPr/>
          <p:nvPr/>
        </p:nvSpPr>
        <p:spPr>
          <a:xfrm>
            <a:off x="1051560" y="1527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 integration for smarter irrigation timing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🔆</a:t>
            </a:r>
            <a:endParaRPr lang="en-US" sz="1092" dirty="0"/>
          </a:p>
        </p:txBody>
      </p:sp>
      <p:sp>
        <p:nvSpPr>
          <p:cNvPr id="9" name="Text 7"/>
          <p:cNvSpPr/>
          <p:nvPr/>
        </p:nvSpPr>
        <p:spPr>
          <a:xfrm>
            <a:off x="1051560" y="20939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 for fully off-grid field deployment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1051560" y="26609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crop disease detection from leaf images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51560" y="32278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communication for larger, low-power field coverage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05156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234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16916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 combines IoT, intelligent irrigation, and cybersecurity to provide a practical and affordable smart farming solution for Indian farmers.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251960"/>
            <a:ext cx="12188952" cy="1691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80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6928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966960" y="452628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560" dirty="0"/>
          </a:p>
        </p:txBody>
      </p:sp>
      <p:sp>
        <p:nvSpPr>
          <p:cNvPr id="24" name="Shape 22"/>
          <p:cNvSpPr/>
          <p:nvPr/>
        </p:nvSpPr>
        <p:spPr>
          <a:xfrm>
            <a:off x="10652760" y="452628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5276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6400800" y="5212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AgriSentinel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  |  Smart Farming IoT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Widescreen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JAYASURYA R</cp:lastModifiedBy>
  <cp:revision>2</cp:revision>
  <dcterms:created xsi:type="dcterms:W3CDTF">2026-08-10T05:12:54Z</dcterms:created>
  <dcterms:modified xsi:type="dcterms:W3CDTF">2026-08-10T05:15:58Z</dcterms:modified>
</cp:coreProperties>
</file>